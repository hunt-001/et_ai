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4572000" cy="45720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365760"/>
            <a:ext cx="2743200" cy="2743200"/>
          </a:xfrm>
          <a:prstGeom prst="ellipse">
            <a:avLst/>
          </a:prstGeom>
          <a:solidFill>
            <a:srgbClr val="2F8F5B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EdgeAI-OS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41248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Intelligence Platform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41248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· fully-local · self-verifying multi-agent runtime for the plant floor.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 ·  Problem Statement 8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knowledge that exists, but can't be found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working hours lost searching for information that already exists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5544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8288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7–12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11880" y="2788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document systems per plant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8288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18–22%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400800" y="2788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unplanned downtime linked to fragmented information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06840" y="155448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8280" y="18288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189720" y="278892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experienced engineers retiring within a decade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Asset-intensive plants scatter drawings, maintenance logs, safety procedures, inspection reports and regulatory files across separate systems. When experienced engineers retire, undocumented knowledge leaves with them.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PS8 brief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orchestration runtime, not another silo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288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6824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Orchestrator (+ LangGraph opt-in)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202996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plans across agents; dual runtime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828800"/>
            <a:ext cx="411480" cy="411480"/>
          </a:xfrm>
          <a:prstGeom prst="ellipse">
            <a:avLst/>
          </a:prstGeom>
          <a:solidFill>
            <a:srgbClr val="0E4D64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16824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+ event bus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0" y="202996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reactive: ingest → auto recheck &amp; alert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971800"/>
            <a:ext cx="411480" cy="411480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28254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+ typed knowledge graph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317296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vector; cross-document linkage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269748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971800"/>
            <a:ext cx="411480" cy="411480"/>
          </a:xfrm>
          <a:prstGeom prst="ellipse">
            <a:avLst/>
          </a:prstGeom>
          <a:solidFill>
            <a:srgbClr val="D8A23A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28254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→ Supervisor → Reflection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32320" y="317296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verified &amp; grounded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114800"/>
            <a:ext cx="411480" cy="411480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39684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 (Ollama)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31596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open-weights, on-device, no data egress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84048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41148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39684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+ offline dashboard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32320" y="431596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the agent ecosystem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for PS8 today; the same runtime re-targets to another enterprise use case by swapping agent configuration — not by a rewrite.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primary agents + a supervisor that verifies them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7F6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Ingestion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03911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PDFs/scans → entities → typed graph + hybrid index. OCR fallback.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944368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7F6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0815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Knowledge Copilot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confidence-scored answers, grounded and reflected.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379976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E7F6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5171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Maintenance &amp; RCA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491032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failure risk + cited root-cause narrative.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0876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E7F6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Compliance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03911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gaps + deviations + audit-ready evidence.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944368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E7F6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0815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Lessons Learned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4747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failure patterns + proactive warnings.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4379976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FBF3DF"/>
          </a:solidFill>
          <a:ln w="15875">
            <a:solidFill>
              <a:srgbClr val="D8A2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VerifierAgent (Supervisor)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4919472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 reaches the user unverified: every claim must be grounded in a cited source, or it's flagged.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206240" y="960120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0" y="9601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 · MCP server · /ask /plan /trace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743200" cy="548640"/>
          </a:xfrm>
          <a:prstGeom prst="roundRect">
            <a:avLst>
              <a:gd name="adj" fmla="val 11667"/>
            </a:avLst>
          </a:prstGeom>
          <a:solidFill>
            <a:srgbClr val="0E4D6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(native)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02082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· planner · dispatch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20440" y="1691640"/>
            <a:ext cx="2194560" cy="548640"/>
          </a:xfrm>
          <a:prstGeom prst="roundRect">
            <a:avLst>
              <a:gd name="adj" fmla="val 11667"/>
            </a:avLst>
          </a:prstGeom>
          <a:solidFill>
            <a:srgbClr val="4A3A12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7373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20440" y="202082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StateGraph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20440" y="1691640"/>
            <a:ext cx="2194560" cy="548640"/>
          </a:xfrm>
          <a:prstGeom prst="roundRect">
            <a:avLst>
              <a:gd name="adj" fmla="val 11667"/>
            </a:avLst>
          </a:prstGeom>
          <a:solidFill>
            <a:srgbClr val="5A4718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20440" y="199339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StateGraph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852160" y="1691640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0E4D64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17373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Event Bus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52160" y="202082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working·short·long·incident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641080" y="1691640"/>
            <a:ext cx="2880360" cy="548640"/>
          </a:xfrm>
          <a:prstGeom prst="roundRect">
            <a:avLst>
              <a:gd name="adj" fmla="val 11667"/>
            </a:avLst>
          </a:prstGeom>
          <a:solidFill>
            <a:srgbClr val="0E4D64"/>
          </a:solidFill>
          <a:ln/>
        </p:spPr>
      </p:sp>
      <p:sp>
        <p:nvSpPr>
          <p:cNvPr id="19" name="Text 17"/>
          <p:cNvSpPr/>
          <p:nvPr/>
        </p:nvSpPr>
        <p:spPr>
          <a:xfrm>
            <a:off x="8641080" y="173736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(observability)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41080" y="2020824"/>
            <a:ext cx="2880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per dispatch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23774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578608"/>
            <a:ext cx="2084832" cy="457200"/>
          </a:xfrm>
          <a:prstGeom prst="roundRect">
            <a:avLst>
              <a:gd name="adj" fmla="val 14000"/>
            </a:avLst>
          </a:prstGeom>
          <a:solidFill>
            <a:srgbClr val="2F8F5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57860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834640" y="2578608"/>
            <a:ext cx="2084832" cy="457200"/>
          </a:xfrm>
          <a:prstGeom prst="roundRect">
            <a:avLst>
              <a:gd name="adj" fmla="val 14000"/>
            </a:avLst>
          </a:prstGeom>
          <a:solidFill>
            <a:srgbClr val="2F8F5B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257860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0" y="2578608"/>
            <a:ext cx="2084832" cy="457200"/>
          </a:xfrm>
          <a:prstGeom prst="roundRect">
            <a:avLst>
              <a:gd name="adj" fmla="val 14000"/>
            </a:avLst>
          </a:prstGeom>
          <a:solidFill>
            <a:srgbClr val="2F8F5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57860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23760" y="2578608"/>
            <a:ext cx="2084832" cy="457200"/>
          </a:xfrm>
          <a:prstGeom prst="roundRect">
            <a:avLst>
              <a:gd name="adj" fmla="val 14000"/>
            </a:avLst>
          </a:prstGeom>
          <a:solidFill>
            <a:srgbClr val="2F8F5B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257860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18320" y="2578608"/>
            <a:ext cx="2084832" cy="457200"/>
          </a:xfrm>
          <a:prstGeom prst="roundRect">
            <a:avLst>
              <a:gd name="adj" fmla="val 14000"/>
            </a:avLst>
          </a:prstGeom>
          <a:solidFill>
            <a:srgbClr val="2F8F5B"/>
          </a:solidFill>
          <a:ln/>
        </p:spPr>
      </p:sp>
      <p:sp>
        <p:nvSpPr>
          <p:cNvPr id="31" name="Text 29"/>
          <p:cNvSpPr/>
          <p:nvPr/>
        </p:nvSpPr>
        <p:spPr>
          <a:xfrm>
            <a:off x="9418320" y="257860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3127248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6B5312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1272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VerifierAgent (Supervisor) → Reflection loop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43600" y="3127248"/>
            <a:ext cx="2651760" cy="457200"/>
          </a:xfrm>
          <a:prstGeom prst="roundRect">
            <a:avLst>
              <a:gd name="adj" fmla="val 14000"/>
            </a:avLst>
          </a:prstGeom>
          <a:solidFill>
            <a:srgbClr val="6B5312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31272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gate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732520" y="3127248"/>
            <a:ext cx="2788920" cy="457200"/>
          </a:xfrm>
          <a:prstGeom prst="roundRect">
            <a:avLst>
              <a:gd name="adj" fmla="val 14000"/>
            </a:avLst>
          </a:prstGeom>
          <a:solidFill>
            <a:srgbClr val="33506E"/>
          </a:solidFill>
          <a:ln/>
        </p:spPr>
      </p:sp>
      <p:sp>
        <p:nvSpPr>
          <p:cNvPr id="37" name="Text 35"/>
          <p:cNvSpPr/>
          <p:nvPr/>
        </p:nvSpPr>
        <p:spPr>
          <a:xfrm>
            <a:off x="8732520" y="3127248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×7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0080" y="37033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3904488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0E4D64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9044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— BM25 + vector (RRF)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54880" y="3904488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0E4D64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39502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Knowledge Graph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754880" y="4233672"/>
            <a:ext cx="274320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→ Neo4j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635240" y="3904488"/>
            <a:ext cx="1828800" cy="457200"/>
          </a:xfrm>
          <a:prstGeom prst="roundRect">
            <a:avLst>
              <a:gd name="adj" fmla="val 14000"/>
            </a:avLst>
          </a:prstGeom>
          <a:solidFill>
            <a:srgbClr val="0E4D64"/>
          </a:solidFill>
          <a:ln/>
        </p:spPr>
      </p:sp>
      <p:sp>
        <p:nvSpPr>
          <p:cNvPr id="45" name="Text 43"/>
          <p:cNvSpPr/>
          <p:nvPr/>
        </p:nvSpPr>
        <p:spPr>
          <a:xfrm>
            <a:off x="7635240" y="39044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601200" y="3904488"/>
            <a:ext cx="1920240" cy="457200"/>
          </a:xfrm>
          <a:prstGeom prst="roundRect">
            <a:avLst>
              <a:gd name="adj" fmla="val 14000"/>
            </a:avLst>
          </a:prstGeom>
          <a:solidFill>
            <a:srgbClr val="0E4D64"/>
          </a:solidFill>
          <a:ln/>
        </p:spPr>
      </p:sp>
      <p:sp>
        <p:nvSpPr>
          <p:cNvPr id="47" name="Text 45"/>
          <p:cNvSpPr/>
          <p:nvPr/>
        </p:nvSpPr>
        <p:spPr>
          <a:xfrm>
            <a:off x="9601200" y="39044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fallback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40080" y="44805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0080" y="4681728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2F8F5B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46817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· qwen2.5:7b (100% GPU)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434840" y="4681728"/>
            <a:ext cx="2743200" cy="457200"/>
          </a:xfrm>
          <a:prstGeom prst="roundRect">
            <a:avLst>
              <a:gd name="adj" fmla="val 14000"/>
            </a:avLst>
          </a:prstGeom>
          <a:solidFill>
            <a:srgbClr val="2F8F5B"/>
          </a:solidFill>
          <a:ln/>
        </p:spPr>
      </p:sp>
      <p:sp>
        <p:nvSpPr>
          <p:cNvPr id="52" name="Text 50"/>
          <p:cNvSpPr/>
          <p:nvPr/>
        </p:nvSpPr>
        <p:spPr>
          <a:xfrm>
            <a:off x="4434840" y="46817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315200" y="4681728"/>
            <a:ext cx="4206240" cy="457200"/>
          </a:xfrm>
          <a:prstGeom prst="roundRect">
            <a:avLst>
              <a:gd name="adj" fmla="val 14000"/>
            </a:avLst>
          </a:prstGeom>
          <a:solidFill>
            <a:srgbClr val="33506E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0" y="46817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deterministic fallback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40080" y="534924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11331F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550468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edge — no outbound network calls · open-weights local models · full audit trail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40080" y="5815584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real &amp; tested · Amber = trust / opt-in runtime · Blue = core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evaluation harness (scripts/evaluate.py) against the sample corpus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FE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extraction P/R (tags, reg. refs)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6459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0A2540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9202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FE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1188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hit@3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0A2540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9202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FE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 detection P/R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06840" y="164592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0A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9098280" y="19202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FE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8972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904488"/>
            <a:ext cx="256032" cy="256032"/>
          </a:xfrm>
          <a:prstGeom prst="ellipse">
            <a:avLst/>
          </a:prstGeom>
          <a:solidFill>
            <a:srgbClr val="49C07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840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Time-to-answer: milliseconds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an ~8-minute manual multi-system search — the headline before/after metric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636008"/>
            <a:ext cx="256032" cy="256032"/>
          </a:xfrm>
          <a:prstGeom prst="ellipse">
            <a:avLst/>
          </a:prstGeom>
          <a:solidFill>
            <a:srgbClr val="49C07E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572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Grounding: verified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pass the Supervisor's citation + grounding check before display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5367528"/>
            <a:ext cx="256032" cy="256032"/>
          </a:xfrm>
          <a:prstGeom prst="ellipse">
            <a:avLst/>
          </a:prstGeom>
          <a:solidFill>
            <a:srgbClr val="49C07E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5303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local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5623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 at 100% GPU on an RTX 4060 (8GB) — nothing leaves the host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shown are on the synthetic sample; the harness re-runs on real documents to produce defensible figures.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runtime &amp; trust layer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79222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3317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 reaches a user unless every claim is grounded in a cited source.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5544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3712" y="17830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056632" y="179222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81144" y="23317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Ungrounded answers trigger an automatic retry with expanded retrieval.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10144" y="15544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38744" y="17830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741664" y="179222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66176" y="23317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or unverified results are held for engineer approval.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7490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7581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6112" y="42976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dispatch is traced: timing, confidence, tools ( /trace 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25112" y="35204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53712" y="37490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056632" y="37581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81144" y="42976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Ingesting a document auto-rechecks compliance and refreshes lessons.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10144" y="352044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38744" y="37490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8741664" y="37581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dual runtime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66176" y="42976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Queryable by any MCP client; native or LangGraph execution.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the 12 patterns used by Microsoft / OpenAI / Palantir-class enterprise AI stacks — implemented, not aspirational.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and 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E7F6EC"/>
          </a:solidFill>
          <a:ln w="15875">
            <a:solidFill>
              <a:srgbClr val="2F8F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agents + supervisor real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+ typed graph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· HITL · observability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cascade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 + air-gapped UI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· dual runtime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tests · eval harness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43400" y="155448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EEF3F8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(highest value)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228600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industrial documents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metrics on real data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demo video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live for scale demo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EEF3F8"/>
          </a:solidFill>
          <a:ln w="15875">
            <a:solidFill>
              <a:srgbClr val="5465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21040" y="228600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Audit-log persistence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feedback loop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Edge-node deployment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connectors (SAP/PLC)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3657600" cy="3657600"/>
          </a:xfrm>
          <a:prstGeom prst="ellipse">
            <a:avLst/>
          </a:prstGeom>
          <a:solidFill>
            <a:srgbClr val="13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Accelerator — Hardware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280160"/>
            <a:ext cx="521208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2588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 · CONCEPTUAL — not built for this prototype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0F213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9C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Today — Software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7–8B open-weight models run fully offline on a laptop/edge server via Ollama. Working now.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0F213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48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Next — Commodity Edge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stack on Jetson / mini-PC nodes on the plant floor. Privacy-first inference at the point of need.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0F2137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148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75320" y="25146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Vision — Custom Silicon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75320" y="32918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Sparsity-aware accelerator skipping zero weights in quantized industrial LLMs — SystemVerilog RTL concept.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substance is the working, provably-offline, self-verifying software. The silicon layer is vision, not a claim of built hardware.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" y="4937760"/>
            <a:ext cx="2743200" cy="2743200"/>
          </a:xfrm>
          <a:prstGeom prst="ellipse">
            <a:avLst/>
          </a:prstGeom>
          <a:solidFill>
            <a:srgbClr val="2F8F5B">
              <a:alpha val="2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Collective plant knowledge —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E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queryable, cited, verified, and local.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EdgeAI-OS — a working, privacy-first industrial knowledge runtime today.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· Problem Statement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2026-07-15T19:24:25Z</dcterms:created>
  <dcterms:modified xsi:type="dcterms:W3CDTF">2026-07-15T19:24:25Z</dcterms:modified>
</cp:coreProperties>
</file>